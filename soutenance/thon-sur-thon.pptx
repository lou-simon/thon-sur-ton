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" id="{aab20f0c-a0ed-4eaf-c334-41abd45fd269}">
          <p14:sldIdLst>
            <p14:sldId id="256"/>
          </p14:sldIdLst>
        </p14:section>
        <p14:section name="Modèle" id="{6f0cdd59-02c2-84e6-9743-1ce97dbfca94}">
          <p14:sldIdLst>
            <p14:sldId id="257"/>
            <p14:sldId id="258"/>
            <p14:sldId id="259"/>
            <p14:sldId id="260"/>
            <p14:sldId id="261"/>
          </p14:sldIdLst>
        </p14:section>
        <p14:section name="Démonstration" id="{72f45ab6-e087-9299-ec55-237a1247780d}">
          <p14:sldIdLst>
            <p14:sldId id="262"/>
          </p14:sldIdLst>
        </p14:section>
        <p14:section name="Bilan" id="{3c47bb1a-7800-684a-6633-56865118f74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Diaporama et schémas générés avec Claude Code (Anthropic) le 12 octobre 2026, à partir du code du projet (v3.2.0). Textes proposés par Claude : à relire, reformuler et valider par Lou et Simon. À déclarer (charte « Bon usage des IA », point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comportements.
Source : godot/thon/thon.gd, fonction _voisins (rayon_vision, angle_mort, distance_separation).
Schéma : soutenance/schemas/vision-thon.excalidraw (à rouvrir dans Excalidraw pour le corriger).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comportements. Chaque force est un vecteur multiplié par son poids avant la somme.
Source : godot/thon/thon.gd, fonction decider ; curseurs : godot/interface/interface.gd.
Schéma : soutenance/schemas/poids-force.excalidraw (à rouvrir dans Excalidraw pour le corriger).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comportements. Pas de machine à états pour le thon : son comportement est une somme de forces pondérées.
Source : godot/thon/thon.gd, fonction decider ; poids par défaut du code.
Schéma : soutenance/schemas/forces-thon.excalidraw (à rouvrir dans Excalidraw pour le corriger).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machine à états.
Source : godot/obstacles/requin.gd, fonctions decider et _poursuite (vitesse_patrouille, vitesse_chasse, acceleration, distance_suivi, _proie). La poursuite est amortie (amortissement, choisi par Simon sur mesures) : non dessiné. Les autres valeurs du requin sont proposées par Claude, à confirmer par Lou et Simon (voir le script).
Schéma : soutenance/schemas/etats-requin.excalidraw (à rouvrir dans Excalidraw pour le corriger).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diagramme d'interaction entre agents.
Source : godot/thon/thon.gd (_separation, _alignement, _cohesion, _fuite, _evitement, _contournement), godot/obstacles/requin.gd (_poursuite).
Schéma : soutenance/schemas/interactions-agents.excalidraw (à rouvrir dans Excalidraw pour le corriger).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exécuter la simulation, en direct ou en vidéo pré-enregistrée. Ici on passe sur le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: présenter les perspectives.
Source : « Idées pour plus tard » de doc/versions.md.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IN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309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Thon sur thon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 du logo"/>
          <p:cNvSpPr/>
          <p:nvPr/>
        </p:nvSpPr>
        <p:spPr>
          <a:xfrm>
            <a:off x="6099048" y="0"/>
            <a:ext cx="6099048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" name="Image 0" descr="Logo Thon sur 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685800"/>
            <a:ext cx="5486400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3716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Thon</a:t>
            </a:r>
            <a:endParaRPr lang="en-US" sz="8000" dirty="0"/>
          </a:p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sur thon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Le projet qui vous fait thon-ber par terre.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120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Projet SMA, M2 ILIADE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Lou et Simon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Un thon ne voit que ses voisins</a:t>
            </a:r>
            <a:endParaRPr lang="en-US" sz="2600" dirty="0"/>
          </a:p>
        </p:txBody>
      </p:sp>
      <p:pic>
        <p:nvPicPr>
          <p:cNvPr id="4" name="Image 0" descr="Un thon ne voit que ses vois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8595360" cy="4834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Le poids d'une force</a:t>
            </a:r>
            <a:endParaRPr lang="en-US" sz="2600" dirty="0"/>
          </a:p>
        </p:txBody>
      </p:sp>
      <p:pic>
        <p:nvPicPr>
          <p:cNvPr id="4" name="Image 0" descr="Le poids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8595360" cy="4834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Le thon additionne sept forces</a:t>
            </a:r>
            <a:endParaRPr lang="en-US" sz="2600" dirty="0"/>
          </a:p>
        </p:txBody>
      </p:sp>
      <p:pic>
        <p:nvPicPr>
          <p:cNvPr id="4" name="Image 0" descr="Le thon additionne sept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8595360" cy="4834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Le requin a deux allures</a:t>
            </a:r>
            <a:endParaRPr lang="en-US" sz="2600" dirty="0"/>
          </a:p>
        </p:txBody>
      </p:sp>
      <p:pic>
        <p:nvPicPr>
          <p:cNvPr id="4" name="Image 0" descr="Le requin a deux all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8595360" cy="4834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Qui agit sur qui</a:t>
            </a:r>
            <a:endParaRPr lang="en-US" sz="2600" dirty="0"/>
          </a:p>
        </p:txBody>
      </p:sp>
      <p:pic>
        <p:nvPicPr>
          <p:cNvPr id="4" name="Image 0" descr="Qui agit sur q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8595360" cy="48348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Démonstration</a:t>
            </a:r>
            <a:endParaRPr lang="en-US" sz="2600" dirty="0"/>
          </a:p>
        </p:txBody>
      </p:sp>
      <p:sp>
        <p:nvSpPr>
          <p:cNvPr id="4" name="Disque"/>
          <p:cNvSpPr/>
          <p:nvPr/>
        </p:nvSpPr>
        <p:spPr>
          <a:xfrm>
            <a:off x="7909560" y="1463040"/>
            <a:ext cx="3840480" cy="3840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703320" y="173736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Place</a:t>
            </a:r>
            <a:endParaRPr lang="en-US" sz="8000" dirty="0"/>
          </a:p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à la démo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3703320" y="4572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On plonge dans l'aquarium.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Perspectives</a:t>
            </a:r>
            <a:endParaRPr lang="en-US" sz="2600" dirty="0"/>
          </a:p>
        </p:txBody>
      </p:sp>
      <p:sp>
        <p:nvSpPr>
          <p:cNvPr id="4" name="Carte"/>
          <p:cNvSpPr/>
          <p:nvPr/>
        </p:nvSpPr>
        <p:spPr>
          <a:xfrm>
            <a:off x="3703320" y="1371600"/>
            <a:ext cx="1892808" cy="411480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931920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Un bateau de pêche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32918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traîne un filet : il attrape les thons, qui le fuient</a:t>
            </a:r>
            <a:endParaRPr lang="en-US" sz="1600" dirty="0"/>
          </a:p>
        </p:txBody>
      </p:sp>
      <p:sp>
        <p:nvSpPr>
          <p:cNvPr id="7" name="Carte"/>
          <p:cNvSpPr/>
          <p:nvPr/>
        </p:nvSpPr>
        <p:spPr>
          <a:xfrm>
            <a:off x="5779008" y="1371600"/>
            <a:ext cx="1892808" cy="411480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07608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Plusieurs rochers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007608" y="32918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dans l'aquarium</a:t>
            </a:r>
            <a:endParaRPr lang="en-US" sz="1600" dirty="0"/>
          </a:p>
        </p:txBody>
      </p:sp>
      <p:sp>
        <p:nvSpPr>
          <p:cNvPr id="10" name="Carte"/>
          <p:cNvSpPr/>
          <p:nvPr/>
        </p:nvSpPr>
        <p:spPr>
          <a:xfrm>
            <a:off x="7854696" y="1371600"/>
            <a:ext cx="1892808" cy="411480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83296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Un courant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083296" y="32918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pousse les thons dans une direction</a:t>
            </a:r>
            <a:endParaRPr lang="en-US" sz="1600" dirty="0"/>
          </a:p>
        </p:txBody>
      </p:sp>
      <p:sp>
        <p:nvSpPr>
          <p:cNvPr id="13" name="Carte"/>
          <p:cNvSpPr/>
          <p:nvPr/>
        </p:nvSpPr>
        <p:spPr>
          <a:xfrm>
            <a:off x="9930384" y="1371600"/>
            <a:ext cx="1892808" cy="411480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158984" y="17373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Une grille spatiale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158984" y="32918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pour chercher les voisins plus vite, avec beaucoup de thons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54864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Les + et les −</a:t>
            </a:r>
            <a:endParaRPr lang="en-US" sz="2600" dirty="0"/>
          </a:p>
        </p:txBody>
      </p:sp>
      <p:sp>
        <p:nvSpPr>
          <p:cNvPr id="4" name="Pastille +"/>
          <p:cNvSpPr/>
          <p:nvPr/>
        </p:nvSpPr>
        <p:spPr>
          <a:xfrm>
            <a:off x="3703320" y="1005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7033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Carte"/>
          <p:cNvSpPr/>
          <p:nvPr/>
        </p:nvSpPr>
        <p:spPr>
          <a:xfrm>
            <a:off x="3703320" y="19202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banc sans chef : chaque thon ne regarde que ses voisins.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3703320" y="32918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32918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banc se coupe puis se ressoude tout seul, devant le rocher comme devant le requin.</a:t>
            </a:r>
            <a:endParaRPr lang="en-US" sz="1600" dirty="0"/>
          </a:p>
        </p:txBody>
      </p:sp>
      <p:sp>
        <p:nvSpPr>
          <p:cNvPr id="10" name="Carte"/>
          <p:cNvSpPr/>
          <p:nvPr/>
        </p:nvSpPr>
        <p:spPr>
          <a:xfrm>
            <a:off x="3703320" y="46634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46634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Peu de règles, un comportement riche : sept forces suffisent au thon.</a:t>
            </a:r>
            <a:endParaRPr lang="en-US" sz="1600" dirty="0"/>
          </a:p>
        </p:txBody>
      </p:sp>
      <p:sp>
        <p:nvSpPr>
          <p:cNvPr id="12" name="Pastille −"/>
          <p:cNvSpPr/>
          <p:nvPr/>
        </p:nvSpPr>
        <p:spPr>
          <a:xfrm>
            <a:off x="7863840" y="10058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−</a:t>
            </a:r>
            <a:endParaRPr lang="en-US" sz="2400" dirty="0"/>
          </a:p>
        </p:txBody>
      </p:sp>
      <p:sp>
        <p:nvSpPr>
          <p:cNvPr id="14" name="Carte"/>
          <p:cNvSpPr/>
          <p:nvPr/>
        </p:nvSpPr>
        <p:spPr>
          <a:xfrm>
            <a:off x="7863840" y="19202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Deux types d'agents seulement : le thon et le requin.</a:t>
            </a:r>
            <a:endParaRPr lang="en-US" sz="1600" dirty="0"/>
          </a:p>
        </p:txBody>
      </p:sp>
      <p:sp>
        <p:nvSpPr>
          <p:cNvPr id="16" name="Carte"/>
          <p:cNvSpPr/>
          <p:nvPr/>
        </p:nvSpPr>
        <p:spPr>
          <a:xfrm>
            <a:off x="7863840" y="32918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32918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fuyant le requin, des thons sortent parfois des parois.</a:t>
            </a:r>
            <a:endParaRPr lang="en-US" sz="1600" dirty="0"/>
          </a:p>
        </p:txBody>
      </p:sp>
      <p:sp>
        <p:nvSpPr>
          <p:cNvPr id="18" name="Carte"/>
          <p:cNvSpPr/>
          <p:nvPr/>
        </p:nvSpPr>
        <p:spPr>
          <a:xfrm>
            <a:off x="7863840" y="4663440"/>
            <a:ext cx="397764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92440" y="46634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Loin du réel : ni faim ni fatigue, le requin n'attrape jamais.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5760720"/>
            <a:ext cx="137160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on sur thon">
  <a:themeElements>
    <a:clrScheme name="Thon sur thon">
      <a:dk1>
        <a:srgbClr val="091629"/>
      </a:dk1>
      <a:lt1>
        <a:srgbClr val="FFFFFF"/>
      </a:lt1>
      <a:dk2>
        <a:srgbClr val="091629"/>
      </a:dk2>
      <a:lt2>
        <a:srgbClr val="EEF3FA"/>
      </a:lt2>
      <a:accent1>
        <a:srgbClr val="1F6FD1"/>
      </a:accent1>
      <a:accent2>
        <a:srgbClr val="F2C230"/>
      </a:accent2>
      <a:accent3>
        <a:srgbClr val="6B7A90"/>
      </a:accent3>
      <a:accent4>
        <a:srgbClr val="E5483A"/>
      </a:accent4>
      <a:accent5>
        <a:srgbClr val="1E9E6A"/>
      </a:accent5>
      <a:accent6>
        <a:srgbClr val="8A8079"/>
      </a:accent6>
      <a:hlink>
        <a:srgbClr val="1F6FD1"/>
      </a:hlink>
      <a:folHlink>
        <a:srgbClr val="6B7A90"/>
      </a:folHlink>
    </a:clrScheme>
    <a:fontScheme name="Thon sur th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Thon sur thon</dc:title>
  <dc:subject>PptxGenJS Presentation</dc:subject>
  <dc:creator>Lou et Simon</dc:creator>
  <cp:lastModifiedBy>Lou et Simon</cp:lastModifiedBy>
  <cp:revision>1</cp:revision>
  <dcterms:created xsi:type="dcterms:W3CDTF">2026-10-12T09:13:35Z</dcterms:created>
  <dcterms:modified xsi:type="dcterms:W3CDTF">2026-10-12T09:13:35Z</dcterms:modified>
</cp:coreProperties>
</file>