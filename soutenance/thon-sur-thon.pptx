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re" id="{74c1dcb8-ade8-da0b-cdda-47199724856a}">
          <p14:sldIdLst>
            <p14:sldId id="256"/>
          </p14:sldIdLst>
        </p14:section>
        <p14:section name="Modèle" id="{339dcc70-ce3a-ecae-a324-575c6c26167b}">
          <p14:sldIdLst>
            <p14:sldId id="257"/>
            <p14:sldId id="258"/>
            <p14:sldId id="259"/>
            <p14:sldId id="260"/>
            <p14:sldId id="261"/>
            <p14:sldId id="262"/>
          </p14:sldIdLst>
        </p14:section>
        <p14:section name="Démonstration" id="{467fc433-f3ce-afa3-1a4f-0365c99fc5a5}">
          <p14:sldIdLst>
            <p14:sldId id="263"/>
          </p14:sldIdLst>
        </p14:section>
        <p14:section name="Bilan" id="{eedf1596-d4ef-8755-2fea-dd61fa27d598}">
          <p14:sldIdLst>
            <p14:sldId id="264"/>
            <p14:sldId id="265"/>
          </p14:sldIdLst>
        </p14:section>
        <p14:section name="Annexe" id="{47f8b1a4-241f-9973-e49d-96ccc940e4aa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Diaporama et schémas générés avec Claude Code (Anthropic) le 12 octobre 2026, à partir du code du projet (v3.2.0). Textes proposés par Claude : à relire, reformuler et valider par Lou et Simon. À déclarer (charte « Bon usage des IA », point 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Consigne : comportements.
Source : godot/thon/thon.gd, fonction _voisins (rayon_vision, angle_mort, distance_separation).
Schéma : soutenance/schemas/vision-thon.excalidraw (à rouvrir dans Excalidraw pour le corriger).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Consigne : comportements. Chaque force est un vecteur multiplié par son poids avant la somme.
Source : godot/thon/thon.gd, fonction decider ; curseurs : godot/interface/interface.gd.
Schéma : soutenance/schemas/poids-force.excalidraw (à rouvrir dans Excalidraw pour le corriger).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Consigne : comportements. Pas de machine à états pour le thon : son comportement est une somme de forces pondérées.
Source : godot/thon/thon.gd, fonction decider ; poids par défaut du code.
Schéma : soutenance/schemas/forces-thon.excalidraw (à rouvrir dans Excalidraw pour le corriger).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Consigne : machine à états.
Source : godot/obstacles/requin.gd, fonctions decider et _poursuite (vitesse_patrouille, vitesse_chasse, acceleration, distance_suivi, _proie). La poursuite est amortie (amortissement, choisi par Simon sur mesures) : non dessiné. Les autres valeurs du requin sont proposées par Claude, à confirmer par Lou et Simon (voir le script).
Schéma : soutenance/schemas/etats-requin.excalidraw (à rouvrir dans Excalidraw pour le corriger).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Consigne : diagramme d'interaction entre agents.
Source : godot/thon/thon.gd (_separation, _alignement, _cohesion, _fuite, _evitement, _contournement), godot/obstacles/requin.gd (_poursuite).
Schéma : soutenance/schemas/interactions-agents.excalidraw (à rouvrir dans Excalidraw pour le corriger).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Consigne : état(s) initial(aux).
Source : godot/aquarium/aquarium.gd (_creer_banc, _creer_requin, _position_au_hasard), godot/thon/thon.gd (_ready).
Schéma : soutenance/schemas/etat-initial.excalidraw (à rouvrir dans Excalidraw pour le corriger).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Consigne : exécuter la simulation, en direct ou en vidéo pré-enregistrée.
Boutons « Plonger », « Valeurs par défaut », « Relancer » et curseurs « Vision », « Alignement » : godot/accueil/accueil.tscn, godot/interface/interface.gd.
Effets annoncés : mesurés sans fenêtre (soutenance/mesures/resultats.txt, arguments rv=4 et pa=0). Déroulé proposé par Claude, à répéter à l'écran avant de le garder.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Consigne : discuter des + et des − ; pertinence du modèle par rapport à la réalité.
Proposition de Claude à partir du code et des mesures : à discuter et à reformuler par Lou et Simon.
Sorties des parois : mesurées avec mesure_banc.gd (colonne « hors » de soutenance/mesures/resultats.txt), rares, et presque nulles sans fuite.
Boids : modèle attribué à Craig Reynolds (1987), référence exacte à vérifier avant de la citer.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Consigne : présenter les perspectives.
Source : « Idées pour plus tard » de doc/versions.md.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Hors des 4 minutes : à garder pour les questions.
Source : godot/aquarium/aquarium.gd, fonction _physics_process.
Schéma : soutenance/schemas/pas-de-simulation.excalidraw (à rouvrir dans Excalidraw pour le corriger).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RIN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6858000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63093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Thon sur thon</a:t>
            </a:r>
            <a:endParaRPr lang="en-US" sz="12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411480" y="548640"/>
            <a:ext cx="2560320" cy="411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11480" y="5760720"/>
            <a:ext cx="1371600" cy="5486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3200">
                <a:solidFill>
                  <a:schemeClr val="accent2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11480" y="5760720"/>
            <a:ext cx="1371600" cy="5486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3200">
                <a:solidFill>
                  <a:schemeClr val="accent2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nd du logo"/>
          <p:cNvSpPr/>
          <p:nvPr/>
        </p:nvSpPr>
        <p:spPr>
          <a:xfrm>
            <a:off x="6099048" y="0"/>
            <a:ext cx="6099048" cy="6858000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3" name="Image 0" descr="Logo Thon sur th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685800"/>
            <a:ext cx="5486400" cy="5486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1371600"/>
            <a:ext cx="5120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chemeClr val="tx1"/>
                </a:solidFill>
              </a:rPr>
              <a:t>Thon</a:t>
            </a:r>
            <a:endParaRPr lang="en-US" sz="8000" dirty="0"/>
          </a:p>
          <a:p>
            <a:pPr indent="0" marL="0">
              <a:buNone/>
            </a:pPr>
            <a:r>
              <a:rPr lang="en-US" sz="8000" b="1" dirty="0">
                <a:solidFill>
                  <a:schemeClr val="tx1"/>
                </a:solidFill>
              </a:rPr>
              <a:t>sur thon</a:t>
            </a:r>
            <a:endParaRPr lang="en-US" sz="8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93192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</a:rPr>
              <a:t>Le projet qui vous fait thon-ber par terre.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512064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Projet SMA, M2 ILIADE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Lou et Simon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11480" y="548640"/>
            <a:ext cx="25603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Un thon ne voit que ses voisins</a:t>
            </a:r>
            <a:endParaRPr lang="en-US" sz="2600" dirty="0"/>
          </a:p>
        </p:txBody>
      </p:sp>
      <p:pic>
        <p:nvPicPr>
          <p:cNvPr id="4" name="Image 0" descr="Un thon ne voit que ses voisi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83280" y="1005840"/>
            <a:ext cx="8595360" cy="483489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11480" y="5760720"/>
            <a:ext cx="1371600" cy="5486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3200">
                <a:solidFill>
                  <a:schemeClr val="accent2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11480" y="548640"/>
            <a:ext cx="25603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Le poids d'une force</a:t>
            </a:r>
            <a:endParaRPr lang="en-US" sz="2600" dirty="0"/>
          </a:p>
        </p:txBody>
      </p:sp>
      <p:pic>
        <p:nvPicPr>
          <p:cNvPr id="4" name="Image 0" descr="Le poids d'une for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83280" y="1005840"/>
            <a:ext cx="8595360" cy="483489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11480" y="5760720"/>
            <a:ext cx="1371600" cy="5486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3200">
                <a:solidFill>
                  <a:schemeClr val="accent2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11480" y="548640"/>
            <a:ext cx="25603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Le thon additionne sept forces</a:t>
            </a:r>
            <a:endParaRPr lang="en-US" sz="2600" dirty="0"/>
          </a:p>
        </p:txBody>
      </p:sp>
      <p:pic>
        <p:nvPicPr>
          <p:cNvPr id="4" name="Image 0" descr="Le thon additionne sept forc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83280" y="1005840"/>
            <a:ext cx="8595360" cy="483489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11480" y="5760720"/>
            <a:ext cx="1371600" cy="5486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3200">
                <a:solidFill>
                  <a:schemeClr val="accent2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11480" y="548640"/>
            <a:ext cx="25603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Le requin a deux allures</a:t>
            </a:r>
            <a:endParaRPr lang="en-US" sz="2600" dirty="0"/>
          </a:p>
        </p:txBody>
      </p:sp>
      <p:pic>
        <p:nvPicPr>
          <p:cNvPr id="4" name="Image 0" descr="Le requin a deux allu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83280" y="1005840"/>
            <a:ext cx="8595360" cy="483489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11480" y="5760720"/>
            <a:ext cx="1371600" cy="5486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3200">
                <a:solidFill>
                  <a:schemeClr val="accent2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11480" y="548640"/>
            <a:ext cx="25603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Qui agit sur qui</a:t>
            </a:r>
            <a:endParaRPr lang="en-US" sz="2600" dirty="0"/>
          </a:p>
        </p:txBody>
      </p:sp>
      <p:pic>
        <p:nvPicPr>
          <p:cNvPr id="4" name="Image 0" descr="Qui agit sur qu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83280" y="1005840"/>
            <a:ext cx="8595360" cy="483489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11480" y="5760720"/>
            <a:ext cx="1371600" cy="5486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3200">
                <a:solidFill>
                  <a:schemeClr val="accent2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11480" y="548640"/>
            <a:ext cx="25603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Un départ au hasard</a:t>
            </a:r>
            <a:endParaRPr lang="en-US" sz="2600" dirty="0"/>
          </a:p>
        </p:txBody>
      </p:sp>
      <p:pic>
        <p:nvPicPr>
          <p:cNvPr id="4" name="Image 0" descr="Un départ au has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83280" y="1005840"/>
            <a:ext cx="8595360" cy="483489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11480" y="5760720"/>
            <a:ext cx="1371600" cy="5486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3200">
                <a:solidFill>
                  <a:schemeClr val="accent2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11480" y="548640"/>
            <a:ext cx="25603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Démonstration</a:t>
            </a:r>
            <a:endParaRPr lang="en-US" sz="2600" dirty="0"/>
          </a:p>
        </p:txBody>
      </p:sp>
      <p:sp>
        <p:nvSpPr>
          <p:cNvPr id="4" name="Étape 1"/>
          <p:cNvSpPr/>
          <p:nvPr/>
        </p:nvSpPr>
        <p:spPr>
          <a:xfrm>
            <a:off x="3703320" y="1371600"/>
            <a:ext cx="1892808" cy="4114800"/>
          </a:xfrm>
          <a:prstGeom prst="roundRect">
            <a:avLst>
              <a:gd name="adj" fmla="val 869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Pastille 1"/>
          <p:cNvSpPr/>
          <p:nvPr/>
        </p:nvSpPr>
        <p:spPr>
          <a:xfrm>
            <a:off x="3931920" y="164592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393192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3931920" y="2560320"/>
            <a:ext cx="1508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Plonger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3931920" y="4023360"/>
            <a:ext cx="1508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Le banc se forme, le requin le suit et le coupe</a:t>
            </a:r>
            <a:endParaRPr lang="en-US" sz="1600" dirty="0"/>
          </a:p>
        </p:txBody>
      </p:sp>
      <p:sp>
        <p:nvSpPr>
          <p:cNvPr id="9" name="Étape 2"/>
          <p:cNvSpPr/>
          <p:nvPr/>
        </p:nvSpPr>
        <p:spPr>
          <a:xfrm>
            <a:off x="5779008" y="1371600"/>
            <a:ext cx="1892808" cy="4114800"/>
          </a:xfrm>
          <a:prstGeom prst="roundRect">
            <a:avLst>
              <a:gd name="adj" fmla="val 869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0" name="Pastille 2"/>
          <p:cNvSpPr/>
          <p:nvPr/>
        </p:nvSpPr>
        <p:spPr>
          <a:xfrm>
            <a:off x="6007608" y="164592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007608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2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6007608" y="2560320"/>
            <a:ext cx="1508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Vision à 4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6007608" y="4023360"/>
            <a:ext cx="1508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Le banc se disperse en petits groupes</a:t>
            </a:r>
            <a:endParaRPr lang="en-US" sz="1600" dirty="0"/>
          </a:p>
        </p:txBody>
      </p:sp>
      <p:sp>
        <p:nvSpPr>
          <p:cNvPr id="14" name="Étape 3"/>
          <p:cNvSpPr/>
          <p:nvPr/>
        </p:nvSpPr>
        <p:spPr>
          <a:xfrm>
            <a:off x="7854696" y="1371600"/>
            <a:ext cx="1892808" cy="4114800"/>
          </a:xfrm>
          <a:prstGeom prst="roundRect">
            <a:avLst>
              <a:gd name="adj" fmla="val 869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5" name="Pastille 3"/>
          <p:cNvSpPr/>
          <p:nvPr/>
        </p:nvSpPr>
        <p:spPr>
          <a:xfrm>
            <a:off x="8083296" y="164592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083296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3</a:t>
            </a:r>
            <a:endParaRPr lang="en-US" sz="2400" dirty="0"/>
          </a:p>
        </p:txBody>
      </p:sp>
      <p:sp>
        <p:nvSpPr>
          <p:cNvPr id="17" name="Text 14"/>
          <p:cNvSpPr txBox="1"/>
          <p:nvPr/>
        </p:nvSpPr>
        <p:spPr>
          <a:xfrm>
            <a:off x="8083296" y="2560320"/>
            <a:ext cx="1508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Alignement à 0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8083296" y="4023360"/>
            <a:ext cx="1508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Chacun nage dans son sens</a:t>
            </a:r>
            <a:endParaRPr lang="en-US" sz="1600" dirty="0"/>
          </a:p>
        </p:txBody>
      </p:sp>
      <p:sp>
        <p:nvSpPr>
          <p:cNvPr id="19" name="Étape 4"/>
          <p:cNvSpPr/>
          <p:nvPr/>
        </p:nvSpPr>
        <p:spPr>
          <a:xfrm>
            <a:off x="9930384" y="1371600"/>
            <a:ext cx="1892808" cy="4114800"/>
          </a:xfrm>
          <a:prstGeom prst="roundRect">
            <a:avLst>
              <a:gd name="adj" fmla="val 869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0" name="Pastille 4"/>
          <p:cNvSpPr/>
          <p:nvPr/>
        </p:nvSpPr>
        <p:spPr>
          <a:xfrm>
            <a:off x="10158984" y="164592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158984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4</a:t>
            </a:r>
            <a:endParaRPr lang="en-US" sz="2400" dirty="0"/>
          </a:p>
        </p:txBody>
      </p:sp>
      <p:sp>
        <p:nvSpPr>
          <p:cNvPr id="22" name="Text 19"/>
          <p:cNvSpPr txBox="1"/>
          <p:nvPr/>
        </p:nvSpPr>
        <p:spPr>
          <a:xfrm>
            <a:off x="10158984" y="2560320"/>
            <a:ext cx="1508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Valeurs par défaut, Relancer</a:t>
            </a:r>
            <a:endParaRPr lang="en-US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10158984" y="4023360"/>
            <a:ext cx="1508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Nouveau départ au hasard, le banc revient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11480" y="5760720"/>
            <a:ext cx="1371600" cy="5486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3200">
                <a:solidFill>
                  <a:schemeClr val="accent2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11480" y="548640"/>
            <a:ext cx="25603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Les + et les −</a:t>
            </a:r>
            <a:endParaRPr lang="en-US" sz="2600" dirty="0"/>
          </a:p>
        </p:txBody>
      </p:sp>
      <p:sp>
        <p:nvSpPr>
          <p:cNvPr id="4" name="Pastille +"/>
          <p:cNvSpPr/>
          <p:nvPr/>
        </p:nvSpPr>
        <p:spPr>
          <a:xfrm>
            <a:off x="3703320" y="1005840"/>
            <a:ext cx="640080" cy="64008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3703320" y="1005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+</a:t>
            </a:r>
            <a:endParaRPr lang="en-US" sz="2400" dirty="0"/>
          </a:p>
        </p:txBody>
      </p:sp>
      <p:sp>
        <p:nvSpPr>
          <p:cNvPr id="6" name="Carte"/>
          <p:cNvSpPr/>
          <p:nvPr/>
        </p:nvSpPr>
        <p:spPr>
          <a:xfrm>
            <a:off x="3703320" y="1920240"/>
            <a:ext cx="3977640" cy="1188720"/>
          </a:xfrm>
          <a:prstGeom prst="roundRect">
            <a:avLst>
              <a:gd name="adj" fmla="val 1384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931920" y="1920240"/>
            <a:ext cx="3520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Un banc sans chef : chaque thon ne regarde que ses voisins</a:t>
            </a:r>
            <a:endParaRPr lang="en-US" sz="1600" dirty="0"/>
          </a:p>
        </p:txBody>
      </p:sp>
      <p:sp>
        <p:nvSpPr>
          <p:cNvPr id="8" name="Carte"/>
          <p:cNvSpPr/>
          <p:nvPr/>
        </p:nvSpPr>
        <p:spPr>
          <a:xfrm>
            <a:off x="3703320" y="3291840"/>
            <a:ext cx="3977640" cy="1188720"/>
          </a:xfrm>
          <a:prstGeom prst="roundRect">
            <a:avLst>
              <a:gd name="adj" fmla="val 1384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931920" y="3291840"/>
            <a:ext cx="3520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Réglages choisis sur des mesures sans fenêtre, rejouables par graine</a:t>
            </a:r>
            <a:endParaRPr lang="en-US" sz="1600" dirty="0"/>
          </a:p>
        </p:txBody>
      </p:sp>
      <p:sp>
        <p:nvSpPr>
          <p:cNvPr id="10" name="Carte"/>
          <p:cNvSpPr/>
          <p:nvPr/>
        </p:nvSpPr>
        <p:spPr>
          <a:xfrm>
            <a:off x="3703320" y="4663440"/>
            <a:ext cx="3977640" cy="1188720"/>
          </a:xfrm>
          <a:prstGeom prst="roundRect">
            <a:avLst>
              <a:gd name="adj" fmla="val 1384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931920" y="4663440"/>
            <a:ext cx="3520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Proche des boids de Reynolds : séparation, alignement, cohésion</a:t>
            </a:r>
            <a:endParaRPr lang="en-US" sz="1600" dirty="0"/>
          </a:p>
        </p:txBody>
      </p:sp>
      <p:sp>
        <p:nvSpPr>
          <p:cNvPr id="12" name="Pastille −"/>
          <p:cNvSpPr/>
          <p:nvPr/>
        </p:nvSpPr>
        <p:spPr>
          <a:xfrm>
            <a:off x="7863840" y="1005840"/>
            <a:ext cx="640080" cy="6400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863840" y="1005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−</a:t>
            </a:r>
            <a:endParaRPr lang="en-US" sz="2400" dirty="0"/>
          </a:p>
        </p:txBody>
      </p:sp>
      <p:sp>
        <p:nvSpPr>
          <p:cNvPr id="14" name="Carte"/>
          <p:cNvSpPr/>
          <p:nvPr/>
        </p:nvSpPr>
        <p:spPr>
          <a:xfrm>
            <a:off x="7863840" y="1920240"/>
            <a:ext cx="3977640" cy="1188720"/>
          </a:xfrm>
          <a:prstGeom prst="roundRect">
            <a:avLst>
              <a:gd name="adj" fmla="val 1384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092440" y="1920240"/>
            <a:ext cx="3520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Deux types d'agents seulement : le thon et le requin</a:t>
            </a:r>
            <a:endParaRPr lang="en-US" sz="1600" dirty="0"/>
          </a:p>
        </p:txBody>
      </p:sp>
      <p:sp>
        <p:nvSpPr>
          <p:cNvPr id="16" name="Carte"/>
          <p:cNvSpPr/>
          <p:nvPr/>
        </p:nvSpPr>
        <p:spPr>
          <a:xfrm>
            <a:off x="7863840" y="3291840"/>
            <a:ext cx="3977640" cy="1188720"/>
          </a:xfrm>
          <a:prstGeom prst="roundRect">
            <a:avLst>
              <a:gd name="adj" fmla="val 1384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092440" y="3291840"/>
            <a:ext cx="3520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En fuyant le requin, des thons sortent parfois des parois</a:t>
            </a:r>
            <a:endParaRPr lang="en-US" sz="1600" dirty="0"/>
          </a:p>
        </p:txBody>
      </p:sp>
      <p:sp>
        <p:nvSpPr>
          <p:cNvPr id="18" name="Carte"/>
          <p:cNvSpPr/>
          <p:nvPr/>
        </p:nvSpPr>
        <p:spPr>
          <a:xfrm>
            <a:off x="7863840" y="4663440"/>
            <a:ext cx="3977640" cy="1188720"/>
          </a:xfrm>
          <a:prstGeom prst="roundRect">
            <a:avLst>
              <a:gd name="adj" fmla="val 1384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092440" y="4663440"/>
            <a:ext cx="3520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Loin du réel : thons identiques, ni faim ni fatigue, le requin n'attrape jamais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11480" y="5760720"/>
            <a:ext cx="1371600" cy="5486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3200">
                <a:solidFill>
                  <a:schemeClr val="accent2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11480" y="548640"/>
            <a:ext cx="25603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Perspectives</a:t>
            </a:r>
            <a:endParaRPr lang="en-US" sz="2600" dirty="0"/>
          </a:p>
        </p:txBody>
      </p:sp>
      <p:sp>
        <p:nvSpPr>
          <p:cNvPr id="4" name="Carte"/>
          <p:cNvSpPr/>
          <p:nvPr/>
        </p:nvSpPr>
        <p:spPr>
          <a:xfrm>
            <a:off x="3703320" y="1828800"/>
            <a:ext cx="2587752" cy="3200400"/>
          </a:xfrm>
          <a:prstGeom prst="roundRect">
            <a:avLst>
              <a:gd name="adj" fmla="val 636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3977640" y="219456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Plusieurs rochers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3977640" y="329184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dans l'aquarium</a:t>
            </a:r>
            <a:endParaRPr lang="en-US" sz="1800" dirty="0"/>
          </a:p>
        </p:txBody>
      </p:sp>
      <p:sp>
        <p:nvSpPr>
          <p:cNvPr id="7" name="Carte"/>
          <p:cNvSpPr/>
          <p:nvPr/>
        </p:nvSpPr>
        <p:spPr>
          <a:xfrm>
            <a:off x="6473952" y="1828800"/>
            <a:ext cx="2587752" cy="3200400"/>
          </a:xfrm>
          <a:prstGeom prst="roundRect">
            <a:avLst>
              <a:gd name="adj" fmla="val 636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748272" y="219456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Un courant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6748272" y="329184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qui pousse les thons dans une direction</a:t>
            </a:r>
            <a:endParaRPr lang="en-US" sz="1800" dirty="0"/>
          </a:p>
        </p:txBody>
      </p:sp>
      <p:sp>
        <p:nvSpPr>
          <p:cNvPr id="10" name="Carte"/>
          <p:cNvSpPr/>
          <p:nvPr/>
        </p:nvSpPr>
        <p:spPr>
          <a:xfrm>
            <a:off x="9244584" y="1828800"/>
            <a:ext cx="2587752" cy="3200400"/>
          </a:xfrm>
          <a:prstGeom prst="roundRect">
            <a:avLst>
              <a:gd name="adj" fmla="val 636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518904" y="219456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Une grille spatiale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9518904" y="329184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pour chercher les voisins plus vite, avec beaucoup de thons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11480" y="5760720"/>
            <a:ext cx="1371600" cy="5486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3200">
                <a:solidFill>
                  <a:schemeClr val="accent2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11480" y="548640"/>
            <a:ext cx="25603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Annexe : un pas de simulation</a:t>
            </a:r>
            <a:endParaRPr lang="en-US" sz="2600" dirty="0"/>
          </a:p>
        </p:txBody>
      </p:sp>
      <p:pic>
        <p:nvPicPr>
          <p:cNvPr id="4" name="Image 0" descr="Annexe : un pas de simul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83280" y="1005840"/>
            <a:ext cx="8595360" cy="483489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11480" y="5760720"/>
            <a:ext cx="1371600" cy="5486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3200">
                <a:solidFill>
                  <a:schemeClr val="accent2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on sur thon">
  <a:themeElements>
    <a:clrScheme name="Thon sur thon">
      <a:dk1>
        <a:srgbClr val="091629"/>
      </a:dk1>
      <a:lt1>
        <a:srgbClr val="FFFFFF"/>
      </a:lt1>
      <a:dk2>
        <a:srgbClr val="091629"/>
      </a:dk2>
      <a:lt2>
        <a:srgbClr val="EEF3FA"/>
      </a:lt2>
      <a:accent1>
        <a:srgbClr val="1F6FD1"/>
      </a:accent1>
      <a:accent2>
        <a:srgbClr val="F2C230"/>
      </a:accent2>
      <a:accent3>
        <a:srgbClr val="6B7A90"/>
      </a:accent3>
      <a:accent4>
        <a:srgbClr val="E5483A"/>
      </a:accent4>
      <a:accent5>
        <a:srgbClr val="1E9E6A"/>
      </a:accent5>
      <a:accent6>
        <a:srgbClr val="8A8079"/>
      </a:accent6>
      <a:hlink>
        <a:srgbClr val="1F6FD1"/>
      </a:hlink>
      <a:folHlink>
        <a:srgbClr val="6B7A90"/>
      </a:folHlink>
    </a:clrScheme>
    <a:fontScheme name="Thon sur thon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Thon sur thon</dc:title>
  <dc:subject>PptxGenJS Presentation</dc:subject>
  <dc:creator>Lou et Simon</dc:creator>
  <cp:lastModifiedBy>Lou et Simon</cp:lastModifiedBy>
  <cp:revision>1</cp:revision>
  <dcterms:created xsi:type="dcterms:W3CDTF">2026-10-12T09:05:18Z</dcterms:created>
  <dcterms:modified xsi:type="dcterms:W3CDTF">2026-10-12T09:05:18Z</dcterms:modified>
</cp:coreProperties>
</file>